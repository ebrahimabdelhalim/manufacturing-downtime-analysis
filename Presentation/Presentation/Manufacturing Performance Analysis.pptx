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70" r:id="rId4"/>
    <p:sldId id="258" r:id="rId5"/>
    <p:sldId id="259" r:id="rId6"/>
    <p:sldId id="269" r:id="rId7"/>
    <p:sldId id="260" r:id="rId8"/>
    <p:sldId id="261" r:id="rId9"/>
    <p:sldId id="262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Urbanist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9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3077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913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.png"/><Relationship Id="rId5" Type="http://schemas.openxmlformats.org/officeDocument/2006/relationships/image" Target="../media/image13.pn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.png"/><Relationship Id="rId5" Type="http://schemas.openxmlformats.org/officeDocument/2006/relationships/image" Target="../media/image13.png"/><Relationship Id="rId10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360283" y="1895475"/>
            <a:ext cx="11471433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26419"/>
                </a:solidFill>
                <a:latin typeface="Urbanist"/>
                <a:ea typeface="Urbanist"/>
                <a:cs typeface="Urbanist"/>
                <a:sym typeface="Urbanist"/>
              </a:rPr>
              <a:t>MANUFACTURING INTELLIGENCE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905125"/>
            <a:ext cx="76200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Performance &amp; Downtime Analysis Journey for Aquafizz Industries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933825"/>
            <a:ext cx="952500" cy="3810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557587" y="4543425"/>
            <a:ext cx="5076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Transforming Raw Data into Proactive Strategic Insights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31" y="272421"/>
            <a:ext cx="1558164" cy="14325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840" y="175260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5275" y="271462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26419"/>
                </a:solidFill>
                <a:latin typeface="Urbanist"/>
                <a:ea typeface="Urbanist"/>
                <a:cs typeface="Urbanist"/>
                <a:sym typeface="Urbanist"/>
              </a:rPr>
              <a:t>The Operational Reality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6385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Why every minute counts in modern manufacturing environments</a:t>
            </a:r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31" y="272421"/>
            <a:ext cx="1558164" cy="1432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840" y="175260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67942"/>
            <a:ext cx="41910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067942"/>
            <a:ext cx="41910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29967"/>
            <a:ext cx="41910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029967"/>
            <a:ext cx="41910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991992"/>
            <a:ext cx="41910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0" y="4991992"/>
            <a:ext cx="41910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333375" y="571500"/>
            <a:ext cx="100012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Team Work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1706760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26419"/>
                </a:solidFill>
                <a:latin typeface="Urbanist"/>
                <a:ea typeface="Urbanist"/>
                <a:cs typeface="Urbanist"/>
                <a:sym typeface="Urbanist"/>
              </a:rPr>
              <a:t>Prepared by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1840" y="175260"/>
            <a:ext cx="2148660" cy="143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3617"/>
            <a:ext cx="528637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53617"/>
            <a:ext cx="5286375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3144142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26419"/>
                </a:solidFill>
                <a:latin typeface="Urbanist"/>
                <a:ea typeface="Urbanist"/>
                <a:cs typeface="Urbanist"/>
                <a:sym typeface="Urbanist"/>
              </a:rPr>
              <a:t>Continuous Operations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55371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Machines are running continuously, production lines never stop, and hundreds of batches are produced every shift. But are we achieving peak performance?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144142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Data Paradox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55371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Manufacturing environments produce thousands of records. The challenge is not gathering data, but turning it into meaningful decisions.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9801225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Every minute of production downtime represents a direct loss in factory efficiency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47625" cy="86856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001" y="509536"/>
            <a:ext cx="1558164" cy="143255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9115" y="5425560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2133"/>
            <a:ext cx="3492549" cy="302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2133"/>
            <a:ext cx="3492549" cy="302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2133"/>
            <a:ext cx="3492549" cy="3023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62025" y="3685133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Operating Hours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62025" y="4180433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Tracking the total time the floor is active vs. actual production time.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740324" y="3685133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Downtime Logs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740324" y="4180433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Categorizing every stoppage to identify recurring systemic failures.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518624" y="3685133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Efficiency Rates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18624" y="4180433"/>
            <a:ext cx="27114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Measuring performance against established manufacturing benchmarks.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9802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9802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98028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9801225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Six core metrics reveal the hidden story within the production line data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47625" cy="86856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61" y="307577"/>
            <a:ext cx="1558164" cy="14325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6913" y="5355701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2133"/>
            <a:ext cx="3492549" cy="302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42133"/>
            <a:ext cx="3492549" cy="302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42133"/>
            <a:ext cx="3492549" cy="3023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62025" y="3685133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production </a:t>
            </a:r>
            <a:r>
              <a:rPr lang="en-US" sz="2100" b="1" dirty="0" smtClean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quantities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962025" y="4180433"/>
            <a:ext cx="27114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Tracking actual output volume per shift against targets to guarantee seamless supply chain alignment..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4740324" y="3685133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 b="1" dirty="0" smtClean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Operational </a:t>
            </a:r>
            <a:r>
              <a:rPr lang="en-US" sz="21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losses.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4740324" y="4180433"/>
            <a:ext cx="27114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Exposing hidden gaps, wasted time, and process inefficiencies that directly drain factory profitability.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8518624" y="3685133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machine performance,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8518624" y="4180433"/>
            <a:ext cx="27114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Monitoring individual equipment efficiency to deploy targeted preventive maintenance before critical failures occur.</a:t>
            </a:r>
            <a:endParaRPr dirty="0"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9802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98028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98028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9801225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Six core metrics reveal the hidden story within the production line data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47625" cy="86856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61" y="307577"/>
            <a:ext cx="1558164" cy="143255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7739" y="5487487"/>
            <a:ext cx="2148660" cy="143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2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295275" y="271462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The Data Journey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36385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From Raw Manufacturing Logs to Operational Intelligence</a:t>
            </a:r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31" y="272421"/>
            <a:ext cx="1558164" cy="1432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840" y="175260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571500" y="4034730"/>
            <a:ext cx="11049000" cy="38100"/>
          </a:xfrm>
          <a:prstGeom prst="rect">
            <a:avLst/>
          </a:prstGeom>
          <a:solidFill>
            <a:srgbClr val="0A3C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510733" y="396329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Collection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437286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Gathering logs from production lines, batches, and operator records.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3383413" y="396329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Cleaning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3444180" y="437286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Removing duplicates, fixing missing values, and formatting inconsistencies.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256094" y="396329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316860" y="437286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Processing KPIs like production trends and machine performance levels.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128774" y="396329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Visualization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189541" y="437286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Building interactive Power BI dashboards for real-time decision support.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571500"/>
            <a:ext cx="9801225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Our structured analytical process follows four phases to ensure high data reliability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71500" y="571500"/>
            <a:ext cx="47625" cy="86856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1691580" y="34870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564260" y="34870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7436941" y="34870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10309621" y="348704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803" y="461845"/>
            <a:ext cx="1558164" cy="14325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1541" y="5184963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4878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5830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904875" y="298698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Eliminated Noise: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Managed duplicate records and inconsistent formatting.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04875" y="374898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Unified Data: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Standardized time formats across multiple machine sources.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04875" y="451098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Actionable Structure: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Created a linked system for batches and downtime logs.</a:t>
            </a:r>
            <a:endParaRPr/>
          </a:p>
        </p:txBody>
      </p:sp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298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918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5384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9801225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Rigorous cleaning turns raw records into reliable business insights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47625" cy="86856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8420" y="826860"/>
            <a:ext cx="2148660" cy="1432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571500"/>
            <a:ext cx="5200650" cy="86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Interactive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50" b="1" i="0" u="none" strike="noStrike" cap="none">
                <a:solidFill>
                  <a:srgbClr val="F26419"/>
                </a:solidFill>
                <a:latin typeface="Urbanist"/>
                <a:ea typeface="Urbanist"/>
                <a:cs typeface="Urbanist"/>
                <a:sym typeface="Urbanist"/>
              </a:rPr>
              <a:t>Power BI</a:t>
            </a:r>
            <a:r>
              <a:rPr lang="en-US" sz="2850" b="1" i="0" u="none" strike="noStrike" cap="none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 Intelligence</a:t>
            </a:r>
            <a:endParaRPr/>
          </a:p>
        </p:txBody>
      </p:sp>
      <p:pic>
        <p:nvPicPr>
          <p:cNvPr id="201" name="Google Shape;20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571500" y="2030610"/>
            <a:ext cx="4953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Transitioning from long reports to instant visual insights: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2964060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Real-time KPI monitoring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3306960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Instant bottleneck identification</a:t>
            </a:r>
            <a:endParaRPr dirty="0"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3649860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Machine performance comparisons</a:t>
            </a:r>
            <a:endParaRPr/>
          </a:p>
        </p:txBody>
      </p:sp>
      <p:pic>
        <p:nvPicPr>
          <p:cNvPr id="206" name="Google Shape;20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78348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2124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6414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295275" y="2714625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26419"/>
                </a:solidFill>
                <a:latin typeface="Urbanist"/>
                <a:ea typeface="Urbanist"/>
                <a:cs typeface="Urbanist"/>
                <a:sym typeface="Urbanist"/>
              </a:rPr>
              <a:t>The Proactive Future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571500" y="36385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Shifting from "What Happened" to "Predicting Next Steps"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3120628" y="1643062"/>
            <a:ext cx="595074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dirty="0"/>
          </a:p>
        </p:txBody>
      </p:sp>
      <p:sp>
        <p:nvSpPr>
          <p:cNvPr id="222" name="Google Shape;222;p24"/>
          <p:cNvSpPr txBox="1"/>
          <p:nvPr/>
        </p:nvSpPr>
        <p:spPr>
          <a:xfrm>
            <a:off x="3190875" y="3433762"/>
            <a:ext cx="5810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"The factory speaks through data – are we listening?"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5143500" y="4319587"/>
            <a:ext cx="1905000" cy="1905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4005262" y="4872037"/>
            <a:ext cx="4181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Aquafizz</a:t>
            </a:r>
            <a:r>
              <a:rPr lang="en-US" sz="1200" b="0" i="0" u="none" strike="noStrike" cap="none" dirty="0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 Industries | Operational Intelligence Project </a:t>
            </a:r>
            <a:r>
              <a:rPr lang="en-US" sz="1200" b="0" i="0" u="none" strike="noStrike" cap="none" dirty="0" smtClean="0">
                <a:solidFill>
                  <a:srgbClr val="4EA6A6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/>
          <p:nvPr/>
        </p:nvSpPr>
        <p:spPr>
          <a:xfrm>
            <a:off x="571500" y="303654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571500"/>
            <a:ext cx="47625" cy="434280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34851" y="1927412"/>
            <a:ext cx="7239482" cy="264687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lvl="0" algn="ctr"/>
            <a:r>
              <a:rPr lang="en-US" sz="16600" b="1" dirty="0" smtClean="0">
                <a:solidFill>
                  <a:srgbClr val="4EA6A6"/>
                </a:solidFill>
                <a:latin typeface="Urbanist"/>
                <a:ea typeface="Urbanist"/>
                <a:cs typeface="Urbanist"/>
                <a:sym typeface="Urbanist"/>
              </a:rPr>
              <a:t>Thanks</a:t>
            </a:r>
            <a:endParaRPr lang="en-US" sz="16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166" y="333145"/>
            <a:ext cx="1558164" cy="1432554"/>
          </a:xfrm>
          <a:prstGeom prst="rect">
            <a:avLst/>
          </a:prstGeom>
        </p:spPr>
      </p:pic>
      <p:sp>
        <p:nvSpPr>
          <p:cNvPr id="3" name="AutoShape 2" descr="Generated image: Arabian Egyptian fusion graphic desig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340" y="347838"/>
            <a:ext cx="1755648" cy="1170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379</Words>
  <Application>Microsoft Office PowerPoint</Application>
  <PresentationFormat>Widescreen</PresentationFormat>
  <Paragraphs>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Inter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Ebrahim Abdelhalim</dc:creator>
  <cp:lastModifiedBy>Ebrahim Abdelhalim</cp:lastModifiedBy>
  <cp:revision>5</cp:revision>
  <dcterms:modified xsi:type="dcterms:W3CDTF">2026-05-23T10:54:57Z</dcterms:modified>
</cp:coreProperties>
</file>